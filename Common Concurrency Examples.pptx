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59" r:id="rId7"/>
    <p:sldId id="262" r:id="rId8"/>
    <p:sldId id="263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1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985DB-7380-9384-02E1-108434CEF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D836E9-8CAB-6E5A-FD07-FB49A41D7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DDE5E-EC67-6767-50CF-781FF9065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A6B90-10D6-D419-C153-6888CE264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10B79-AE8E-8173-08A6-781BD2854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638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2603-DBCD-895E-840F-1B4A5C31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79CB6-CE39-5A41-5DB7-1CAF9BB51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C7241-04FF-BB2E-914B-45BF33DB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A8B6F-D8B5-A1D1-32C9-753873BEF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33541-CAF5-46D5-EB86-FCC70589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309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CA8B1-25D6-5B15-AB02-CE69742F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BD44B-75D6-7264-211A-B39AB32EF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7AF64-416D-9894-B184-17305E07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99BD9-9CCE-7DD7-07F0-5D35ED34E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0AA88-4FFB-4D39-B5D2-9F13FC57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20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016DB-03BE-BBE2-10AE-51C3DE2C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F3483-3B9B-ABA5-87BF-435B4990D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EC406-80D1-9193-0508-0BEF0B878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3E2951-0611-6D6E-EEBA-414C8E1B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38342-0AA5-896D-F571-D726083B6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A0BE53-4DB6-7EF8-31D2-E12683825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55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2A4D7-2E79-F572-DEC1-8AA7A0A0A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2979A-6D2D-DA4C-C5ED-6B7F4467B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90592-EF0F-3589-859B-DF95E3148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EE035B-A70C-DFCA-7E92-21791B46E3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293-42CB-F09B-C733-D9D2771AF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6DBB5-A9C7-302A-B94A-FA82D066F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7FCF9-9C59-BC7F-6352-BC3EBD284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AE1042-1274-6873-BE8B-05213D6B1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533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70CFE-3BA1-4388-A929-DD013FF55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D599C-C1CB-E89E-DF81-5691E0A9B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3A35F-9EA9-2C3C-8888-479EF5A45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9F71E6-2E64-F2CF-A696-A04651038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398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DD2F7-C3FB-EBB7-E6F3-4B25DD5C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296230-3206-FCFD-7C5C-15237F8A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07D4D0-5C13-7242-8284-445C3B6A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149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86C68-2C45-7959-B2C2-7FBBE9F52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33CF0-5C40-E112-4735-7EB50B454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69FB8-3539-E34E-BD6C-E8D97BDD5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B50E8-FE14-C24E-B4EE-0B43E7A9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E2837-78D1-716D-C898-29EC584B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7597A-ABC6-60B8-F0EC-E4508F73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384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8C8C8-7D2D-358D-9119-653EA05FA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5BC5A-7B2A-A067-E4B5-C2624F2DF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EBC9EB-524E-62A0-F01E-EBE29B03A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6F62A5-FD81-6EC8-949D-D2CEBAFF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F63AF-0593-C619-4F08-9C461721A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37559-A63F-BE27-0FB4-5B69B4DD5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122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B176C-77B1-A65F-351D-F52A6F97F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98DD1-7601-5A50-58BA-9E33C821C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A6F07-AE18-4B0A-38BC-7943996C9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FF4A-AA66-DEF0-1FC1-FEDC77E3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D548B-AE31-FCD0-F08F-16E46E7D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ABE719-07B6-13DD-1557-54AC79672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1848D-B088-3D46-5922-A12D675BF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551A5-BF62-1C7F-BE43-610F8B31F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7B8C79-08D5-C1DE-4147-46D8B7F2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3CB38-9B15-0C95-FA0F-2364C6D3D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802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5E5D5-2203-9690-CF8A-44EDD936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04E0DA-DCA6-3CFC-6AA5-9432475120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3263C-1640-5FB1-A74C-80B0B3672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D1F3F5-82B8-45D8-B52E-AFE5EE9B2B51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B35FE-38CD-4D4A-D636-F82F44427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F05B2-0AF7-FF78-7072-30B3C83B2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27254-2C34-46F4-B4A2-B541EB5FF4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845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fk@ucn.d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E717D-8576-5A8E-DC90-138BE69FC8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Common </a:t>
            </a:r>
            <a:r>
              <a:rPr lang="da-DK" dirty="0" err="1"/>
              <a:t>Concurrency</a:t>
            </a:r>
            <a:r>
              <a:rPr lang="da-DK" dirty="0"/>
              <a:t> </a:t>
            </a:r>
            <a:r>
              <a:rPr lang="da-DK" dirty="0" err="1"/>
              <a:t>Examples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F3632-6F8C-25C6-B4AD-4E928783C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35438"/>
            <a:ext cx="9144000" cy="1655762"/>
          </a:xfrm>
        </p:spPr>
        <p:txBody>
          <a:bodyPr/>
          <a:lstStyle/>
          <a:p>
            <a:r>
              <a:rPr lang="en-GB" dirty="0"/>
              <a:t>Jakob Farian Krarup (</a:t>
            </a:r>
            <a:r>
              <a:rPr lang="en-GB" dirty="0">
                <a:hlinkClick r:id="rId2"/>
              </a:rPr>
              <a:t>jfk@ucn.dk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3871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A53A8-5303-4DB2-4A70-ED1EFA49F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Common scenarios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697F6-39A1-0C9E-6E6C-EB96462F3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766" y="1855259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a-DK" dirty="0"/>
              <a:t>Update an item and </a:t>
            </a:r>
            <a:r>
              <a:rPr lang="da-DK" dirty="0" err="1"/>
              <a:t>avoid</a:t>
            </a:r>
            <a:r>
              <a:rPr lang="da-DK" dirty="0"/>
              <a:t> lost </a:t>
            </a:r>
            <a:r>
              <a:rPr lang="da-DK" dirty="0" err="1"/>
              <a:t>update</a:t>
            </a:r>
            <a:endParaRPr lang="en-GB" dirty="0"/>
          </a:p>
          <a:p>
            <a:pPr lvl="1"/>
            <a:r>
              <a:rPr lang="en-GB" dirty="0"/>
              <a:t>Update an item if no one else has updated it while we were editing</a:t>
            </a: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da-DK" dirty="0"/>
              <a:t>Inventory check and </a:t>
            </a:r>
            <a:r>
              <a:rPr lang="da-DK" dirty="0" err="1"/>
              <a:t>reduction</a:t>
            </a:r>
            <a:endParaRPr lang="da-DK" dirty="0"/>
          </a:p>
          <a:p>
            <a:pPr lvl="1"/>
            <a:r>
              <a:rPr lang="da-DK" dirty="0"/>
              <a:t>Check for </a:t>
            </a:r>
            <a:r>
              <a:rPr lang="da-DK" dirty="0" err="1"/>
              <a:t>enough</a:t>
            </a:r>
            <a:r>
              <a:rPr lang="da-DK" dirty="0"/>
              <a:t> </a:t>
            </a:r>
            <a:r>
              <a:rPr lang="da-DK" dirty="0" err="1"/>
              <a:t>stock</a:t>
            </a:r>
            <a:r>
              <a:rPr lang="da-DK" dirty="0"/>
              <a:t> for an </a:t>
            </a:r>
            <a:r>
              <a:rPr lang="da-DK" dirty="0" err="1"/>
              <a:t>order</a:t>
            </a:r>
            <a:r>
              <a:rPr lang="da-DK" dirty="0"/>
              <a:t> – </a:t>
            </a:r>
            <a:r>
              <a:rPr lang="da-DK" dirty="0" err="1"/>
              <a:t>then</a:t>
            </a:r>
            <a:r>
              <a:rPr lang="da-DK" dirty="0"/>
              <a:t> </a:t>
            </a:r>
            <a:r>
              <a:rPr lang="da-DK" dirty="0" err="1"/>
              <a:t>reduce</a:t>
            </a:r>
            <a:r>
              <a:rPr lang="da-DK" dirty="0"/>
              <a:t> the </a:t>
            </a:r>
            <a:r>
              <a:rPr lang="da-DK" dirty="0" err="1"/>
              <a:t>stock</a:t>
            </a:r>
            <a:endParaRPr lang="da-DK" dirty="0"/>
          </a:p>
          <a:p>
            <a:pPr marL="514350" indent="-514350">
              <a:buFont typeface="+mj-lt"/>
              <a:buAutoNum type="arabicPeriod"/>
            </a:pPr>
            <a:r>
              <a:rPr lang="da-DK" dirty="0" err="1"/>
              <a:t>Rental</a:t>
            </a:r>
            <a:r>
              <a:rPr lang="da-DK" dirty="0"/>
              <a:t>, booking, </a:t>
            </a:r>
            <a:r>
              <a:rPr lang="da-DK" dirty="0" err="1"/>
              <a:t>enrollment</a:t>
            </a:r>
            <a:endParaRPr lang="da-DK" dirty="0"/>
          </a:p>
          <a:p>
            <a:pPr lvl="1"/>
            <a:r>
              <a:rPr lang="da-DK" dirty="0"/>
              <a:t>Check </a:t>
            </a:r>
            <a:r>
              <a:rPr lang="da-DK" dirty="0" err="1"/>
              <a:t>if</a:t>
            </a:r>
            <a:r>
              <a:rPr lang="da-DK" dirty="0"/>
              <a:t> item is </a:t>
            </a:r>
            <a:r>
              <a:rPr lang="da-DK" dirty="0" err="1"/>
              <a:t>available</a:t>
            </a:r>
            <a:r>
              <a:rPr lang="da-DK" dirty="0"/>
              <a:t> - </a:t>
            </a:r>
            <a:r>
              <a:rPr lang="da-DK" dirty="0" err="1"/>
              <a:t>then</a:t>
            </a:r>
            <a:r>
              <a:rPr lang="da-DK" dirty="0"/>
              <a:t> book it</a:t>
            </a:r>
          </a:p>
        </p:txBody>
      </p:sp>
    </p:spTree>
    <p:extLst>
      <p:ext uri="{BB962C8B-B14F-4D97-AF65-F5344CB8AC3E}">
        <p14:creationId xmlns:p14="http://schemas.microsoft.com/office/powerpoint/2010/main" val="300001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C1CBC-4398-37DE-580F-341653E4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Update an item and </a:t>
            </a:r>
            <a:r>
              <a:rPr lang="da-DK" dirty="0" err="1"/>
              <a:t>avoid</a:t>
            </a:r>
            <a:r>
              <a:rPr lang="da-DK" dirty="0"/>
              <a:t> lost </a:t>
            </a:r>
            <a:r>
              <a:rPr lang="da-DK" dirty="0" err="1"/>
              <a:t>update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DFB8F1-4C54-4138-AE63-E9B7C2CCD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4620" y="1690688"/>
            <a:ext cx="5844664" cy="35749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585EF-3B5F-DC90-44D9-310DEF065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editing</a:t>
            </a:r>
            <a:r>
              <a:rPr lang="da-DK" dirty="0"/>
              <a:t> a student or a school class</a:t>
            </a:r>
          </a:p>
          <a:p>
            <a:r>
              <a:rPr lang="da-DK" dirty="0" err="1"/>
              <a:t>Another</a:t>
            </a:r>
            <a:r>
              <a:rPr lang="da-DK" dirty="0"/>
              <a:t> person is </a:t>
            </a:r>
            <a:r>
              <a:rPr lang="da-DK" dirty="0" err="1"/>
              <a:t>editing</a:t>
            </a:r>
            <a:r>
              <a:rPr lang="da-DK" dirty="0"/>
              <a:t> the same </a:t>
            </a:r>
            <a:r>
              <a:rPr lang="da-DK" dirty="0" err="1"/>
              <a:t>object</a:t>
            </a:r>
            <a:endParaRPr lang="da-DK" dirty="0"/>
          </a:p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don’t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to </a:t>
            </a:r>
            <a:r>
              <a:rPr lang="da-DK" dirty="0" err="1"/>
              <a:t>overwrite</a:t>
            </a:r>
            <a:r>
              <a:rPr lang="da-DK" dirty="0"/>
              <a:t>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changes</a:t>
            </a:r>
            <a:endParaRPr lang="da-DK" dirty="0"/>
          </a:p>
          <a:p>
            <a:r>
              <a:rPr lang="da-DK" dirty="0" err="1"/>
              <a:t>These</a:t>
            </a:r>
            <a:r>
              <a:rPr lang="da-DK" dirty="0"/>
              <a:t>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tables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used</a:t>
            </a:r>
            <a:r>
              <a:rPr lang="da-DK" dirty="0"/>
              <a:t> to </a:t>
            </a:r>
            <a:br>
              <a:rPr lang="da-DK" dirty="0"/>
            </a:br>
            <a:r>
              <a:rPr lang="da-DK" dirty="0"/>
              <a:t>show </a:t>
            </a:r>
            <a:r>
              <a:rPr lang="da-DK" dirty="0" err="1"/>
              <a:t>two</a:t>
            </a:r>
            <a:r>
              <a:rPr lang="da-DK" dirty="0"/>
              <a:t> separate </a:t>
            </a:r>
            <a:r>
              <a:rPr lang="da-DK" dirty="0" err="1"/>
              <a:t>ways</a:t>
            </a:r>
            <a:r>
              <a:rPr lang="da-DK" dirty="0"/>
              <a:t> </a:t>
            </a:r>
            <a:br>
              <a:rPr lang="da-DK" dirty="0"/>
            </a:br>
            <a:r>
              <a:rPr lang="da-DK" dirty="0"/>
              <a:t>of </a:t>
            </a:r>
            <a:r>
              <a:rPr lang="da-DK" dirty="0" err="1"/>
              <a:t>avoiding</a:t>
            </a:r>
            <a:r>
              <a:rPr lang="da-DK" dirty="0"/>
              <a:t> a lost </a:t>
            </a:r>
            <a:r>
              <a:rPr lang="da-DK" dirty="0" err="1"/>
              <a:t>update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2770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040E-2A9C-320A-865A-92A894F9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Inventory check and </a:t>
            </a:r>
            <a:r>
              <a:rPr lang="da-DK" dirty="0" err="1"/>
              <a:t>reduction</a:t>
            </a:r>
            <a:br>
              <a:rPr lang="da-DK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38F3E-B196-FB66-068E-ACF768AA1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454"/>
            <a:ext cx="10913867" cy="4351338"/>
          </a:xfrm>
        </p:spPr>
        <p:txBody>
          <a:bodyPr/>
          <a:lstStyle/>
          <a:p>
            <a:r>
              <a:rPr lang="da-DK" dirty="0"/>
              <a:t>The </a:t>
            </a:r>
            <a:r>
              <a:rPr lang="da-DK" dirty="0" err="1"/>
              <a:t>previous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 is insufficient, </a:t>
            </a:r>
            <a:r>
              <a:rPr lang="da-DK" dirty="0" err="1"/>
              <a:t>because</a:t>
            </a:r>
            <a:r>
              <a:rPr lang="da-DK" dirty="0"/>
              <a:t> the </a:t>
            </a:r>
            <a:r>
              <a:rPr lang="da-DK" dirty="0" err="1"/>
              <a:t>stock</a:t>
            </a:r>
            <a:r>
              <a:rPr lang="da-DK" dirty="0"/>
              <a:t> </a:t>
            </a:r>
            <a:r>
              <a:rPr lang="da-DK" dirty="0" err="1"/>
              <a:t>may</a:t>
            </a:r>
            <a:r>
              <a:rPr lang="da-DK" dirty="0"/>
              <a:t> have </a:t>
            </a:r>
            <a:r>
              <a:rPr lang="da-DK" dirty="0" err="1"/>
              <a:t>been</a:t>
            </a:r>
            <a:r>
              <a:rPr lang="da-DK" dirty="0"/>
              <a:t> </a:t>
            </a:r>
            <a:r>
              <a:rPr lang="da-DK" dirty="0" err="1"/>
              <a:t>changed</a:t>
            </a:r>
            <a:r>
              <a:rPr lang="da-DK" dirty="0"/>
              <a:t> </a:t>
            </a:r>
            <a:r>
              <a:rPr lang="da-DK" dirty="0" err="1"/>
              <a:t>after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checked</a:t>
            </a:r>
            <a:r>
              <a:rPr lang="da-DK" dirty="0"/>
              <a:t>, but </a:t>
            </a:r>
            <a:r>
              <a:rPr lang="da-DK" dirty="0" err="1"/>
              <a:t>there</a:t>
            </a:r>
            <a:r>
              <a:rPr lang="da-DK" dirty="0"/>
              <a:t> </a:t>
            </a:r>
            <a:r>
              <a:rPr lang="da-DK" dirty="0" err="1"/>
              <a:t>may</a:t>
            </a:r>
            <a:r>
              <a:rPr lang="da-DK" dirty="0"/>
              <a:t> still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enough</a:t>
            </a:r>
            <a:r>
              <a:rPr lang="da-DK" dirty="0"/>
              <a:t> </a:t>
            </a:r>
            <a:r>
              <a:rPr lang="da-DK" dirty="0" err="1"/>
              <a:t>left</a:t>
            </a:r>
            <a:endParaRPr lang="da-DK" dirty="0"/>
          </a:p>
          <a:p>
            <a:r>
              <a:rPr lang="da-DK" dirty="0" err="1"/>
              <a:t>Example</a:t>
            </a:r>
            <a:r>
              <a:rPr lang="da-DK" dirty="0"/>
              <a:t>: </a:t>
            </a:r>
          </a:p>
          <a:p>
            <a:pPr lvl="1"/>
            <a:r>
              <a:rPr lang="da-DK" dirty="0"/>
              <a:t>Webpage </a:t>
            </a:r>
            <a:r>
              <a:rPr lang="da-DK" dirty="0" err="1"/>
              <a:t>retrieves</a:t>
            </a:r>
            <a:r>
              <a:rPr lang="da-DK" dirty="0"/>
              <a:t> </a:t>
            </a:r>
            <a:r>
              <a:rPr lang="da-DK" dirty="0" err="1"/>
              <a:t>stock</a:t>
            </a:r>
            <a:r>
              <a:rPr lang="da-DK" dirty="0"/>
              <a:t> and presents it (8 in </a:t>
            </a:r>
            <a:r>
              <a:rPr lang="da-DK" dirty="0" err="1"/>
              <a:t>stock</a:t>
            </a:r>
            <a:r>
              <a:rPr lang="da-DK" dirty="0"/>
              <a:t>)</a:t>
            </a:r>
          </a:p>
          <a:p>
            <a:pPr lvl="1"/>
            <a:r>
              <a:rPr lang="da-DK" dirty="0" err="1"/>
              <a:t>Another</a:t>
            </a:r>
            <a:r>
              <a:rPr lang="da-DK" dirty="0"/>
              <a:t> user purchases 2, </a:t>
            </a:r>
            <a:br>
              <a:rPr lang="da-DK" dirty="0"/>
            </a:br>
            <a:r>
              <a:rPr lang="da-DK" dirty="0" err="1"/>
              <a:t>while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considering</a:t>
            </a:r>
            <a:r>
              <a:rPr lang="da-DK" dirty="0"/>
              <a:t> the purchase</a:t>
            </a:r>
          </a:p>
          <a:p>
            <a:pPr lvl="1"/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add</a:t>
            </a:r>
            <a:r>
              <a:rPr lang="da-DK" dirty="0"/>
              <a:t> 5 to </a:t>
            </a:r>
            <a:r>
              <a:rPr lang="da-DK" dirty="0" err="1"/>
              <a:t>our</a:t>
            </a:r>
            <a:r>
              <a:rPr lang="da-DK" dirty="0"/>
              <a:t> basket and </a:t>
            </a:r>
            <a:r>
              <a:rPr lang="da-DK" dirty="0" err="1"/>
              <a:t>try</a:t>
            </a:r>
            <a:r>
              <a:rPr lang="da-DK" dirty="0"/>
              <a:t> to purchase</a:t>
            </a:r>
            <a:br>
              <a:rPr lang="en-GB" dirty="0"/>
            </a:br>
            <a:r>
              <a:rPr lang="en-GB" dirty="0"/>
              <a:t> </a:t>
            </a:r>
            <a:r>
              <a:rPr lang="en-GB" i="1" dirty="0"/>
              <a:t>(product row was changed, </a:t>
            </a:r>
            <a:br>
              <a:rPr lang="en-GB" i="1" dirty="0"/>
            </a:br>
            <a:r>
              <a:rPr lang="en-GB" i="1" dirty="0"/>
              <a:t> but we should still be able to purchase 5)</a:t>
            </a:r>
            <a:endParaRPr lang="da-DK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67AED-C07C-5D4D-F719-07332FB1C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759" y="3266768"/>
            <a:ext cx="3647085" cy="317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72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313F-37BD-7744-7665-49DBA0C6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Rental</a:t>
            </a:r>
            <a:r>
              <a:rPr lang="da-DK" dirty="0"/>
              <a:t>, booking, </a:t>
            </a:r>
            <a:r>
              <a:rPr lang="da-DK" dirty="0" err="1"/>
              <a:t>enrollment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2546B-7354-E452-CC6C-7600B307C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Basically</a:t>
            </a:r>
            <a:r>
              <a:rPr lang="da-DK" dirty="0"/>
              <a:t> </a:t>
            </a:r>
            <a:r>
              <a:rPr lang="da-DK" dirty="0" err="1"/>
              <a:t>any</a:t>
            </a:r>
            <a:r>
              <a:rPr lang="da-DK" dirty="0"/>
              <a:t> case with a </a:t>
            </a:r>
            <a:r>
              <a:rPr lang="da-DK" dirty="0" err="1"/>
              <a:t>many</a:t>
            </a:r>
            <a:r>
              <a:rPr lang="da-DK" dirty="0"/>
              <a:t> to </a:t>
            </a:r>
            <a:r>
              <a:rPr lang="da-DK" dirty="0" err="1"/>
              <a:t>many</a:t>
            </a:r>
            <a:r>
              <a:rPr lang="da-DK" dirty="0"/>
              <a:t> </a:t>
            </a:r>
            <a:r>
              <a:rPr lang="da-DK" dirty="0" err="1"/>
              <a:t>relationship</a:t>
            </a:r>
            <a:endParaRPr lang="da-DK" dirty="0"/>
          </a:p>
          <a:p>
            <a:r>
              <a:rPr lang="da-DK" dirty="0" err="1"/>
              <a:t>Consider</a:t>
            </a:r>
            <a:r>
              <a:rPr lang="da-DK" dirty="0"/>
              <a:t> a database for a trailer </a:t>
            </a:r>
            <a:r>
              <a:rPr lang="da-DK" dirty="0" err="1"/>
              <a:t>rental</a:t>
            </a:r>
            <a:r>
              <a:rPr lang="da-DK" dirty="0"/>
              <a:t> business: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26267D-9129-9C37-0258-B01D5CDD4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81847"/>
            <a:ext cx="9539841" cy="251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07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313F-37BD-7744-7665-49DBA0C67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Rental</a:t>
            </a:r>
            <a:r>
              <a:rPr lang="da-DK" dirty="0"/>
              <a:t>, booking, </a:t>
            </a:r>
            <a:r>
              <a:rPr lang="da-DK" dirty="0" err="1"/>
              <a:t>enrollment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2546B-7354-E452-CC6C-7600B307C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creating</a:t>
            </a:r>
            <a:r>
              <a:rPr lang="da-DK" dirty="0"/>
              <a:t> a </a:t>
            </a:r>
            <a:r>
              <a:rPr lang="da-DK" dirty="0" err="1"/>
              <a:t>rental</a:t>
            </a:r>
            <a:r>
              <a:rPr lang="da-DK" dirty="0"/>
              <a:t>,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things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happen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Check for </a:t>
            </a:r>
            <a:r>
              <a:rPr lang="da-DK" dirty="0" err="1"/>
              <a:t>availability</a:t>
            </a:r>
            <a:endParaRPr lang="da-DK" dirty="0"/>
          </a:p>
          <a:p>
            <a:pPr lvl="1"/>
            <a:r>
              <a:rPr lang="da-DK" dirty="0"/>
              <a:t>If still </a:t>
            </a:r>
            <a:r>
              <a:rPr lang="da-DK" dirty="0" err="1"/>
              <a:t>available</a:t>
            </a:r>
            <a:r>
              <a:rPr lang="da-DK" dirty="0"/>
              <a:t>, rent it</a:t>
            </a:r>
          </a:p>
          <a:p>
            <a:r>
              <a:rPr lang="da-DK" dirty="0"/>
              <a:t>But </a:t>
            </a: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threads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running at the same time?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AAE2AB-B0CE-0E09-9E33-AC632F2AA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015299"/>
              </p:ext>
            </p:extLst>
          </p:nvPr>
        </p:nvGraphicFramePr>
        <p:xfrm>
          <a:off x="902275" y="4536675"/>
          <a:ext cx="3949700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9700">
                  <a:extLst>
                    <a:ext uri="{9D8B030D-6E8A-4147-A177-3AD203B41FA5}">
                      <a16:colId xmlns:a16="http://schemas.microsoft.com/office/drawing/2014/main" val="641526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a-DK" sz="2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CheckAvailability</a:t>
                      </a:r>
                      <a:r>
                        <a:rPr lang="da-DK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pPr algn="r"/>
                      <a:endParaRPr lang="en-GB" sz="2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91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da-DK" sz="2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CreateRental</a:t>
                      </a:r>
                      <a:r>
                        <a:rPr lang="da-DK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GB" sz="2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32409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940145-1E6C-6661-984B-6FD407973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612629"/>
              </p:ext>
            </p:extLst>
          </p:nvPr>
        </p:nvGraphicFramePr>
        <p:xfrm>
          <a:off x="6388100" y="4599226"/>
          <a:ext cx="3949700" cy="1280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49700">
                  <a:extLst>
                    <a:ext uri="{9D8B030D-6E8A-4147-A177-3AD203B41FA5}">
                      <a16:colId xmlns:a16="http://schemas.microsoft.com/office/drawing/2014/main" val="6415262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sz="2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CheckAvailability</a:t>
                      </a:r>
                      <a:r>
                        <a:rPr lang="da-DK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  <a:p>
                      <a:endParaRPr lang="en-GB" sz="2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8291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sz="2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CreateRental</a:t>
                      </a:r>
                      <a:r>
                        <a:rPr lang="da-DK" sz="2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GB" sz="2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324092"/>
                  </a:ext>
                </a:extLst>
              </a:tr>
            </a:tbl>
          </a:graphicData>
        </a:graphic>
      </p:graphicFrame>
      <p:sp>
        <p:nvSpPr>
          <p:cNvPr id="6" name="Arrow: Down 5">
            <a:extLst>
              <a:ext uri="{FF2B5EF4-FFF2-40B4-BE49-F238E27FC236}">
                <a16:creationId xmlns:a16="http://schemas.microsoft.com/office/drawing/2014/main" id="{DE2A6FFE-A2B8-6C4D-5624-4B9FA2A34B90}"/>
              </a:ext>
            </a:extLst>
          </p:cNvPr>
          <p:cNvSpPr/>
          <p:nvPr/>
        </p:nvSpPr>
        <p:spPr>
          <a:xfrm>
            <a:off x="296333" y="4186767"/>
            <a:ext cx="1155700" cy="24468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a-DK" dirty="0"/>
              <a:t>Thread 1</a:t>
            </a:r>
            <a:endParaRPr lang="en-GB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1F60657C-4C76-2A4C-9485-FD7D5D7D562C}"/>
              </a:ext>
            </a:extLst>
          </p:cNvPr>
          <p:cNvSpPr/>
          <p:nvPr/>
        </p:nvSpPr>
        <p:spPr>
          <a:xfrm>
            <a:off x="9759950" y="3958432"/>
            <a:ext cx="1155700" cy="244686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a-DK" dirty="0"/>
              <a:t>Thread 2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4C8D9C-1B76-F4E0-1AC0-73B3A307649E}"/>
              </a:ext>
            </a:extLst>
          </p:cNvPr>
          <p:cNvSpPr txBox="1"/>
          <p:nvPr/>
        </p:nvSpPr>
        <p:spPr>
          <a:xfrm>
            <a:off x="4696041" y="4473979"/>
            <a:ext cx="465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4000" dirty="0">
                <a:solidFill>
                  <a:srgbClr val="00B050"/>
                </a:solidFill>
                <a:sym typeface="Wingdings" panose="05000000000000000000" pitchFamily="2" charset="2"/>
              </a:rPr>
              <a:t></a:t>
            </a:r>
            <a:endParaRPr lang="en-GB" sz="40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5E45B0-566E-C6F2-9635-9B2ABAF33DB9}"/>
              </a:ext>
            </a:extLst>
          </p:cNvPr>
          <p:cNvSpPr txBox="1"/>
          <p:nvPr/>
        </p:nvSpPr>
        <p:spPr>
          <a:xfrm>
            <a:off x="5917779" y="4468869"/>
            <a:ext cx="465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4000" dirty="0">
                <a:solidFill>
                  <a:srgbClr val="00B050"/>
                </a:solidFill>
                <a:sym typeface="Wingdings" panose="05000000000000000000" pitchFamily="2" charset="2"/>
              </a:rPr>
              <a:t></a:t>
            </a:r>
            <a:endParaRPr lang="en-GB" sz="4000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BF4B84-872D-1D9D-4498-61408DC3ECB2}"/>
              </a:ext>
            </a:extLst>
          </p:cNvPr>
          <p:cNvSpPr txBox="1"/>
          <p:nvPr/>
        </p:nvSpPr>
        <p:spPr>
          <a:xfrm>
            <a:off x="4662887" y="5248996"/>
            <a:ext cx="465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4000" dirty="0">
                <a:solidFill>
                  <a:srgbClr val="00B050"/>
                </a:solidFill>
                <a:sym typeface="Wingdings" panose="05000000000000000000" pitchFamily="2" charset="2"/>
              </a:rPr>
              <a:t></a:t>
            </a:r>
            <a:endParaRPr lang="en-GB" sz="4000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ADB33B-065D-CC73-9679-107493BE965D}"/>
              </a:ext>
            </a:extLst>
          </p:cNvPr>
          <p:cNvSpPr txBox="1"/>
          <p:nvPr/>
        </p:nvSpPr>
        <p:spPr>
          <a:xfrm>
            <a:off x="5851471" y="5243886"/>
            <a:ext cx="465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4000" dirty="0">
                <a:solidFill>
                  <a:srgbClr val="00B050"/>
                </a:solidFill>
                <a:sym typeface="Wingdings" panose="05000000000000000000" pitchFamily="2" charset="2"/>
              </a:rPr>
              <a:t></a:t>
            </a:r>
            <a:endParaRPr lang="en-GB" sz="4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057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52346-60CC-D8BF-E0E1-E5ED08CB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Optimistic</a:t>
            </a:r>
            <a:r>
              <a:rPr lang="da-DK" dirty="0"/>
              <a:t> </a:t>
            </a:r>
            <a:r>
              <a:rPr lang="da-DK" dirty="0" err="1"/>
              <a:t>concurrency</a:t>
            </a:r>
            <a:r>
              <a:rPr lang="da-DK" dirty="0"/>
              <a:t> solution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B5632-5A40-FBC7-E6F3-1DEBC5B6C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Have </a:t>
            </a:r>
            <a:r>
              <a:rPr lang="da-DK" dirty="0" err="1"/>
              <a:t>both</a:t>
            </a:r>
            <a:r>
              <a:rPr lang="da-DK" dirty="0"/>
              <a:t> </a:t>
            </a:r>
            <a:r>
              <a:rPr lang="da-DK" dirty="0" err="1"/>
              <a:t>insertion</a:t>
            </a:r>
            <a:r>
              <a:rPr lang="da-DK" dirty="0"/>
              <a:t> of </a:t>
            </a:r>
            <a:r>
              <a:rPr lang="da-DK" dirty="0" err="1"/>
              <a:t>rental</a:t>
            </a:r>
            <a:r>
              <a:rPr lang="da-DK" dirty="0"/>
              <a:t> AND check for overlapping </a:t>
            </a:r>
            <a:r>
              <a:rPr lang="da-DK" dirty="0" err="1"/>
              <a:t>rentals</a:t>
            </a:r>
            <a:r>
              <a:rPr lang="da-DK" dirty="0"/>
              <a:t> in same SQL statement</a:t>
            </a:r>
            <a:br>
              <a:rPr lang="da-DK" dirty="0"/>
            </a:br>
            <a:endParaRPr lang="da-DK" dirty="0"/>
          </a:p>
          <a:p>
            <a:pPr marL="0" indent="0">
              <a:buNone/>
            </a:pPr>
            <a:r>
              <a:rPr lang="en-GB" sz="19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 INTO Rental (</a:t>
            </a:r>
            <a:r>
              <a:rPr lang="en-GB" sz="1900" dirty="0" err="1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GB" sz="1900" dirty="0" err="1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Trailer_Id</a:t>
            </a: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GB" sz="1900" dirty="0" err="1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RentalBegin</a:t>
            </a: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GB" sz="1900" dirty="0" err="1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RentalEnd</a:t>
            </a: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SELECT @CustomerId, @TrailerId, @RentalBegin, @RentalEnd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WHERE NOT EXISTS (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SELECT 1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FROM Rental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WHERE </a:t>
            </a:r>
            <a:r>
              <a:rPr lang="en-GB" sz="1900" dirty="0" err="1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Trailer_Id</a:t>
            </a: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@TrailerId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AND NOT (@RentalEnd &lt;= </a:t>
            </a:r>
            <a:r>
              <a:rPr lang="en-GB" sz="1900" dirty="0" err="1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RentalBegin</a:t>
            </a: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OR @RentalBegin &gt;= </a:t>
            </a:r>
            <a:r>
              <a:rPr lang="en-GB" sz="1900" dirty="0" err="1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RentalEnd</a:t>
            </a: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1900" dirty="0">
                <a:solidFill>
                  <a:srgbClr val="0070C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);";</a:t>
            </a:r>
            <a:endParaRPr lang="en-GB" sz="19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951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FB293-6221-13CB-EC19-3300ACB2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Pessimistic</a:t>
            </a:r>
            <a:r>
              <a:rPr lang="da-DK" dirty="0"/>
              <a:t> </a:t>
            </a:r>
            <a:r>
              <a:rPr lang="da-DK" dirty="0" err="1"/>
              <a:t>concurrency</a:t>
            </a:r>
            <a:r>
              <a:rPr lang="da-DK" dirty="0"/>
              <a:t> solution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750D5-6350-5DD0-3099-8B33549C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Begin a </a:t>
            </a:r>
            <a:r>
              <a:rPr lang="da-DK" dirty="0" err="1"/>
              <a:t>transaction</a:t>
            </a:r>
            <a:r>
              <a:rPr lang="en-GB" dirty="0"/>
              <a:t> with isolation level serializable</a:t>
            </a:r>
          </a:p>
          <a:p>
            <a:r>
              <a:rPr lang="en-GB" dirty="0"/>
              <a:t>Check for availability</a:t>
            </a:r>
          </a:p>
          <a:p>
            <a:r>
              <a:rPr lang="en-GB" dirty="0"/>
              <a:t>Insert rental/booking/membership/etc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8420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FB293-6221-13CB-EC19-3300ACB2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Pessimistic</a:t>
            </a:r>
            <a:r>
              <a:rPr lang="da-DK" dirty="0"/>
              <a:t> </a:t>
            </a:r>
            <a:r>
              <a:rPr lang="da-DK" dirty="0" err="1"/>
              <a:t>concurrency</a:t>
            </a:r>
            <a:r>
              <a:rPr lang="da-DK" dirty="0"/>
              <a:t> solution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750D5-6350-5DD0-3099-8B33549C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Begin a </a:t>
            </a:r>
            <a:r>
              <a:rPr lang="da-DK" dirty="0" err="1"/>
              <a:t>transaction</a:t>
            </a:r>
            <a:r>
              <a:rPr lang="en-GB" dirty="0"/>
              <a:t> with isolation level serializable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GB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transaction = 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connection.BeginTransaction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GB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IsolationLevel</a:t>
            </a:r>
            <a:r>
              <a:rPr lang="en-GB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.Serializable</a:t>
            </a: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{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...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38982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FB293-6221-13CB-EC19-3300ACB2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Pessimistic</a:t>
            </a:r>
            <a:r>
              <a:rPr lang="da-DK" dirty="0"/>
              <a:t> </a:t>
            </a:r>
            <a:r>
              <a:rPr lang="da-DK" dirty="0" err="1"/>
              <a:t>concurrency</a:t>
            </a:r>
            <a:r>
              <a:rPr lang="da-DK" dirty="0"/>
              <a:t> solution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750D5-6350-5DD0-3099-8B33549C8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Check for availability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SELECT COUNT(*) 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FROM Rental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WHERE </a:t>
            </a:r>
            <a:r>
              <a:rPr lang="en-GB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Trailer_Id</a:t>
            </a:r>
            <a: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@TrailerId</a:t>
            </a:r>
          </a:p>
          <a:p>
            <a:pPr marL="0" indent="0">
              <a:buNone/>
            </a:pPr>
            <a: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AND NOT (@RentalEnd &lt;= </a:t>
            </a:r>
            <a:r>
              <a:rPr lang="en-GB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RentalBegin</a:t>
            </a:r>
            <a: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b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		  OR </a:t>
            </a:r>
            <a:b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@RentalBegin &gt;= </a:t>
            </a:r>
            <a:r>
              <a:rPr lang="en-GB" sz="24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RentalEnd</a:t>
            </a:r>
            <a:r>
              <a:rPr lang="en-GB" sz="24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);"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40989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FB293-6221-13CB-EC19-3300ACB2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Pessimistic</a:t>
            </a:r>
            <a:r>
              <a:rPr lang="da-DK" dirty="0"/>
              <a:t> </a:t>
            </a:r>
            <a:r>
              <a:rPr lang="da-DK" dirty="0" err="1"/>
              <a:t>concurrency</a:t>
            </a:r>
            <a:r>
              <a:rPr lang="da-DK" dirty="0"/>
              <a:t> solution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750D5-6350-5DD0-3099-8B33549C8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433" cy="4351338"/>
          </a:xfrm>
        </p:spPr>
        <p:txBody>
          <a:bodyPr/>
          <a:lstStyle/>
          <a:p>
            <a:r>
              <a:rPr lang="en-GB" dirty="0"/>
              <a:t>Insert rental/booking/membership/etc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INSERT INTO Rental (</a:t>
            </a:r>
            <a:r>
              <a:rPr lang="en-GB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Customer_Id</a:t>
            </a:r>
            <a:r>
              <a:rPr lang="en-GB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GB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Trailer_Id</a:t>
            </a:r>
            <a:r>
              <a:rPr lang="en-GB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GB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RentalBegin</a:t>
            </a:r>
            <a:r>
              <a:rPr lang="en-GB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GB" sz="200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RentalEnd</a:t>
            </a:r>
            <a:r>
              <a:rPr lang="en-GB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pPr marL="0" indent="0">
              <a:buNone/>
            </a:pPr>
            <a:r>
              <a:rPr lang="en-GB" sz="200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VALUES (@CustomerId, @TrailerId, @RentalBegin, @RentalEnd);</a:t>
            </a: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1446255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C298-BA10-453B-FA71-667E24172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6479-7282-8F0F-B3C0-3DF0113C0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221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486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Cascadia Mono</vt:lpstr>
      <vt:lpstr>Courier New</vt:lpstr>
      <vt:lpstr>Wingdings</vt:lpstr>
      <vt:lpstr>Office Theme</vt:lpstr>
      <vt:lpstr>Common Concurrency Examples</vt:lpstr>
      <vt:lpstr>Common scenarios</vt:lpstr>
      <vt:lpstr>Update an item and avoid lost update</vt:lpstr>
      <vt:lpstr>Inventory check and reduction </vt:lpstr>
      <vt:lpstr>Rental, booking, enrollment</vt:lpstr>
      <vt:lpstr>Rental, booking, enrollment</vt:lpstr>
      <vt:lpstr>Optimistic concurrency solution</vt:lpstr>
      <vt:lpstr>Pessimistic concurrency solution</vt:lpstr>
      <vt:lpstr>Pessimistic concurrency solution</vt:lpstr>
      <vt:lpstr>Pessimistic concurrency solution</vt:lpstr>
      <vt:lpstr>Pessimistic concurrency solution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Jakob Farian Krarup</dc:creator>
  <cp:lastModifiedBy>Jakob Farian Krarup</cp:lastModifiedBy>
  <cp:revision>9</cp:revision>
  <dcterms:created xsi:type="dcterms:W3CDTF">2025-11-24T20:59:26Z</dcterms:created>
  <dcterms:modified xsi:type="dcterms:W3CDTF">2025-11-24T21:25:34Z</dcterms:modified>
</cp:coreProperties>
</file>